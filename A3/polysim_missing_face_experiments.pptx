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P4: German, face missing</c:v>
                </c:pt>
              </c:strCache>
            </c:strRef>
          </c:tx>
          <c:spPr>
            <a:ln w="31750" cap="flat">
              <a:solidFill>
                <a:srgbClr val="2F80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80ED"/>
              </a:solidFill>
              <a:ln w="9525" cap="flat">
                <a:solidFill>
                  <a:srgbClr val="2F80ED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0%</c:v>
                </c:pt>
                <c:pt idx="1">
                  <c:v>5%</c:v>
                </c:pt>
                <c:pt idx="2">
                  <c:v>10%</c:v>
                </c:pt>
                <c:pt idx="3">
                  <c:v>15%</c:v>
                </c:pt>
                <c:pt idx="4">
                  <c:v>20%</c:v>
                </c:pt>
                <c:pt idx="5">
                  <c:v>50%</c:v>
                </c:pt>
                <c:pt idx="6">
                  <c:v>80%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74.849999999999994</c:v>
                </c:pt>
                <c:pt idx="1">
                  <c:v>77.78</c:v>
                </c:pt>
                <c:pt idx="2">
                  <c:v>81.58</c:v>
                </c:pt>
                <c:pt idx="3">
                  <c:v>80.7</c:v>
                </c:pt>
                <c:pt idx="4">
                  <c:v>79.53</c:v>
                </c:pt>
                <c:pt idx="5">
                  <c:v>83.33</c:v>
                </c:pt>
                <c:pt idx="6">
                  <c:v>85.09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F1F-4AED-9C6E-5482A96E26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P6: English, face missing</c:v>
                </c:pt>
              </c:strCache>
            </c:strRef>
          </c:tx>
          <c:spPr>
            <a:ln w="31750" cap="flat">
              <a:solidFill>
                <a:srgbClr val="27AE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0%</c:v>
                </c:pt>
                <c:pt idx="1">
                  <c:v>5%</c:v>
                </c:pt>
                <c:pt idx="2">
                  <c:v>10%</c:v>
                </c:pt>
                <c:pt idx="3">
                  <c:v>15%</c:v>
                </c:pt>
                <c:pt idx="4">
                  <c:v>20%</c:v>
                </c:pt>
                <c:pt idx="5">
                  <c:v>50%</c:v>
                </c:pt>
                <c:pt idx="6">
                  <c:v>80%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73.709999999999994</c:v>
                </c:pt>
                <c:pt idx="1">
                  <c:v>82.76</c:v>
                </c:pt>
                <c:pt idx="2">
                  <c:v>88.36</c:v>
                </c:pt>
                <c:pt idx="3">
                  <c:v>84.91</c:v>
                </c:pt>
                <c:pt idx="4">
                  <c:v>85.78</c:v>
                </c:pt>
                <c:pt idx="5">
                  <c:v>92.24</c:v>
                </c:pt>
                <c:pt idx="6">
                  <c:v>95.26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F1F-4AED-9C6E-5482A96E26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5"/>
        </c:scaling>
        <c:delete val="0"/>
        <c:axPos val="l"/>
        <c:majorGridlines>
          <c:spPr>
            <a:ln w="12700" cap="flat">
              <a:solidFill>
                <a:srgbClr val="E6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2521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presentation summarizes the PolySim missing-face experiments. We changed the training data so that a fixed percentage of samples in every class has face features set to zero, while the samples remain in the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We did not delete samples. We only masked the face features for a class-balanced subset. The model still sees the sample, the audio feature, and the correct class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We tested 0%, 5%, 10%, 15%, 20%, 50%, and 80% missing face in training. The data size stayed constant in all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P4 and P6 are the important missing-face tests. They improve when the model is trained with missing-face samples. The full-face scores P3 and P5 stay high but P3 decreases at high missing-face ratios.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goal of missing-face training is robustness. The missing-face evaluation improved strongly, especially in English P6.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14173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324D"/>
                </a:solidFill>
              </a:rPr>
              <a:t>Missing Face Experiments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21792" y="2148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F5B67"/>
                </a:solidFill>
              </a:rPr>
              <a:t>Class-balanced missing-modality training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99669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F2933"/>
                </a:solidFill>
              </a:rPr>
              <a:t>We trained the model with different percentages of missing face features. The selected samples were kept in the dataset, but their face vectors were replaced with zeros.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91286" y="4303166"/>
            <a:ext cx="2183587" cy="469087"/>
          </a:xfrm>
          <a:prstGeom prst="rect">
            <a:avLst/>
          </a:prstGeom>
          <a:solidFill>
            <a:srgbClr val="17324D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language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85846" y="4303166"/>
            <a:ext cx="1909267" cy="469087"/>
          </a:xfrm>
          <a:prstGeom prst="rect">
            <a:avLst/>
          </a:prstGeom>
          <a:solidFill>
            <a:srgbClr val="F6F8FB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German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06086" y="4303166"/>
            <a:ext cx="2183587" cy="469087"/>
          </a:xfrm>
          <a:prstGeom prst="rect">
            <a:avLst/>
          </a:prstGeom>
          <a:solidFill>
            <a:srgbClr val="17324D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languages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00646" y="4303166"/>
            <a:ext cx="2092147" cy="469087"/>
          </a:xfrm>
          <a:prstGeom prst="rect">
            <a:avLst/>
          </a:prstGeom>
          <a:solidFill>
            <a:srgbClr val="F6F8FB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German + English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1286" y="4783226"/>
            <a:ext cx="2183587" cy="469087"/>
          </a:xfrm>
          <a:prstGeom prst="rect">
            <a:avLst/>
          </a:prstGeom>
          <a:solidFill>
            <a:srgbClr val="17324D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samples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85846" y="4783226"/>
            <a:ext cx="1909267" cy="469087"/>
          </a:xfrm>
          <a:prstGeom prst="rect">
            <a:avLst/>
          </a:prstGeom>
          <a:solidFill>
            <a:srgbClr val="F6F8FB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6086" y="4783226"/>
            <a:ext cx="2183587" cy="469087"/>
          </a:xfrm>
          <a:prstGeom prst="rect">
            <a:avLst/>
          </a:prstGeom>
          <a:solidFill>
            <a:srgbClr val="17324D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00646" y="4783226"/>
            <a:ext cx="2092147" cy="469087"/>
          </a:xfrm>
          <a:prstGeom prst="rect">
            <a:avLst/>
          </a:prstGeom>
          <a:solidFill>
            <a:srgbClr val="F6F8FB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changed in training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89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3A3"/>
                </a:solidFill>
              </a:rPr>
              <a:t>TRAINING PROCESS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755648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80ED"/>
                </a:solidFill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For each class, we selected a fixed percentage of training samples.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80ED"/>
                </a:solidFill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76272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For selected samples, the face feature vector was replaced with zeros.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633472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80ED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615184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The selected samples were put back into the dataset with the same label.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07238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80ED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054096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The total number of training samples stayed the same: 683 before and 683 after.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5294" y="3983126"/>
            <a:ext cx="2915107" cy="430987"/>
          </a:xfrm>
          <a:prstGeom prst="rect">
            <a:avLst/>
          </a:prstGeom>
          <a:solidFill>
            <a:srgbClr val="17324D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per class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81374" y="3983126"/>
            <a:ext cx="2000707" cy="430987"/>
          </a:xfrm>
          <a:prstGeom prst="rect">
            <a:avLst/>
          </a:prstGeom>
          <a:solidFill>
            <a:srgbClr val="17324D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93054" y="3983126"/>
            <a:ext cx="2275027" cy="430987"/>
          </a:xfrm>
          <a:prstGeom prst="rect">
            <a:avLst/>
          </a:prstGeom>
          <a:solidFill>
            <a:srgbClr val="17324D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Zeroed face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79054" y="3983126"/>
            <a:ext cx="2366467" cy="430987"/>
          </a:xfrm>
          <a:prstGeom prst="rect">
            <a:avLst/>
          </a:prstGeom>
          <a:solidFill>
            <a:srgbClr val="17324D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5294" y="4425086"/>
            <a:ext cx="2915107" cy="4309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 missing face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81374" y="4425086"/>
            <a:ext cx="2000707" cy="4309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samples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93054" y="4425086"/>
            <a:ext cx="2275027" cy="4309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samples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79054" y="4425086"/>
            <a:ext cx="2366467" cy="4309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samples kept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5294" y="4867046"/>
            <a:ext cx="2915107" cy="4309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 missing face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81374" y="4867046"/>
            <a:ext cx="2000707" cy="4309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samples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93054" y="4867046"/>
            <a:ext cx="2275027" cy="4309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samples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979054" y="4867046"/>
            <a:ext cx="2366467" cy="4309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samples kept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" y="5623560"/>
            <a:ext cx="9966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80ED"/>
                </a:solidFill>
              </a:rPr>
              <a:t>So </a:t>
            </a:r>
            <a:r>
              <a:rPr lang="en-US" b="1" dirty="0">
                <a:solidFill>
                  <a:srgbClr val="2F80ED"/>
                </a:solidFill>
              </a:rPr>
              <a:t>we </a:t>
            </a:r>
            <a:r>
              <a:rPr lang="en-US" sz="1800" b="1" dirty="0">
                <a:solidFill>
                  <a:srgbClr val="2F80ED"/>
                </a:solidFill>
              </a:rPr>
              <a:t>removed only from the face modality, not removed from the dataset.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Experiments we ran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5B67"/>
                </a:solidFill>
              </a:rPr>
              <a:t>Every row used the same German training set. Only the percentage of zero-face samples changed.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2726" y="1303934"/>
            <a:ext cx="2549347" cy="554812"/>
          </a:xfrm>
          <a:prstGeom prst="rect">
            <a:avLst/>
          </a:prstGeom>
          <a:solidFill>
            <a:srgbClr val="17324D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Requested missing face</a:t>
            </a:r>
            <a:endParaRPr lang="en-US" sz="1380" dirty="0"/>
          </a:p>
        </p:txBody>
      </p:sp>
      <p:sp>
        <p:nvSpPr>
          <p:cNvPr id="5" name="Text 3"/>
          <p:cNvSpPr/>
          <p:nvPr/>
        </p:nvSpPr>
        <p:spPr>
          <a:xfrm>
            <a:off x="3343046" y="1303934"/>
            <a:ext cx="2183587" cy="554812"/>
          </a:xfrm>
          <a:prstGeom prst="rect">
            <a:avLst/>
          </a:prstGeom>
          <a:solidFill>
            <a:srgbClr val="17324D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Zeroed samples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5537606" y="1303934"/>
            <a:ext cx="2366467" cy="554812"/>
          </a:xfrm>
          <a:prstGeom prst="rect">
            <a:avLst/>
          </a:prstGeom>
          <a:solidFill>
            <a:srgbClr val="17324D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missing face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7915046" y="1303934"/>
            <a:ext cx="2732227" cy="554812"/>
          </a:xfrm>
          <a:prstGeom prst="rect">
            <a:avLst/>
          </a:prstGeom>
          <a:solidFill>
            <a:srgbClr val="17324D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size after masking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782726" y="1869719"/>
            <a:ext cx="254934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3343046" y="1869719"/>
            <a:ext cx="218358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5537606" y="1869719"/>
            <a:ext cx="236646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0.00%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7915046" y="1869719"/>
            <a:ext cx="27322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683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782726" y="2435504"/>
            <a:ext cx="254934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3343046" y="2435504"/>
            <a:ext cx="218358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5537606" y="2435504"/>
            <a:ext cx="236646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5.12%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7915046" y="2435504"/>
            <a:ext cx="27322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683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782726" y="3001289"/>
            <a:ext cx="254934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3343046" y="3001289"/>
            <a:ext cx="218358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5537606" y="3001289"/>
            <a:ext cx="236646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9.96%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7915046" y="3001289"/>
            <a:ext cx="27322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683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782726" y="3567074"/>
            <a:ext cx="254934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3343046" y="3567074"/>
            <a:ext cx="218358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102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5537606" y="3567074"/>
            <a:ext cx="236646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14.93%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7915046" y="3567074"/>
            <a:ext cx="27322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683</a:t>
            </a:r>
            <a:endParaRPr lang="en-US" sz="1380" dirty="0"/>
          </a:p>
        </p:txBody>
      </p:sp>
      <p:sp>
        <p:nvSpPr>
          <p:cNvPr id="24" name="Text 22"/>
          <p:cNvSpPr/>
          <p:nvPr/>
        </p:nvSpPr>
        <p:spPr>
          <a:xfrm>
            <a:off x="782726" y="4132859"/>
            <a:ext cx="254934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380" dirty="0"/>
          </a:p>
        </p:txBody>
      </p:sp>
      <p:sp>
        <p:nvSpPr>
          <p:cNvPr id="25" name="Text 23"/>
          <p:cNvSpPr/>
          <p:nvPr/>
        </p:nvSpPr>
        <p:spPr>
          <a:xfrm>
            <a:off x="3343046" y="4132859"/>
            <a:ext cx="218358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136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5537606" y="4132859"/>
            <a:ext cx="236646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19.91%</a:t>
            </a:r>
            <a:endParaRPr lang="en-US" sz="1380" dirty="0"/>
          </a:p>
        </p:txBody>
      </p:sp>
      <p:sp>
        <p:nvSpPr>
          <p:cNvPr id="27" name="Text 25"/>
          <p:cNvSpPr/>
          <p:nvPr/>
        </p:nvSpPr>
        <p:spPr>
          <a:xfrm>
            <a:off x="7915046" y="4132859"/>
            <a:ext cx="27322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683</a:t>
            </a:r>
            <a:endParaRPr lang="en-US" sz="1380" dirty="0"/>
          </a:p>
        </p:txBody>
      </p:sp>
      <p:sp>
        <p:nvSpPr>
          <p:cNvPr id="28" name="Text 26"/>
          <p:cNvSpPr/>
          <p:nvPr/>
        </p:nvSpPr>
        <p:spPr>
          <a:xfrm>
            <a:off x="782726" y="4698644"/>
            <a:ext cx="254934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sz="1380" dirty="0"/>
          </a:p>
        </p:txBody>
      </p:sp>
      <p:sp>
        <p:nvSpPr>
          <p:cNvPr id="29" name="Text 27"/>
          <p:cNvSpPr/>
          <p:nvPr/>
        </p:nvSpPr>
        <p:spPr>
          <a:xfrm>
            <a:off x="3343046" y="4698644"/>
            <a:ext cx="218358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351</a:t>
            </a:r>
            <a:endParaRPr lang="en-US" sz="1380" dirty="0"/>
          </a:p>
        </p:txBody>
      </p:sp>
      <p:sp>
        <p:nvSpPr>
          <p:cNvPr id="30" name="Text 28"/>
          <p:cNvSpPr/>
          <p:nvPr/>
        </p:nvSpPr>
        <p:spPr>
          <a:xfrm>
            <a:off x="5537606" y="4698644"/>
            <a:ext cx="236646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51.39%</a:t>
            </a:r>
            <a:endParaRPr lang="en-US" sz="1380" dirty="0"/>
          </a:p>
        </p:txBody>
      </p:sp>
      <p:sp>
        <p:nvSpPr>
          <p:cNvPr id="31" name="Text 29"/>
          <p:cNvSpPr/>
          <p:nvPr/>
        </p:nvSpPr>
        <p:spPr>
          <a:xfrm>
            <a:off x="7915046" y="4698644"/>
            <a:ext cx="27322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683</a:t>
            </a:r>
            <a:endParaRPr lang="en-US" sz="1380" dirty="0"/>
          </a:p>
        </p:txBody>
      </p:sp>
      <p:sp>
        <p:nvSpPr>
          <p:cNvPr id="32" name="Text 30"/>
          <p:cNvSpPr/>
          <p:nvPr/>
        </p:nvSpPr>
        <p:spPr>
          <a:xfrm>
            <a:off x="782726" y="5264429"/>
            <a:ext cx="254934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80%</a:t>
            </a:r>
            <a:endParaRPr lang="en-US" sz="1380" dirty="0"/>
          </a:p>
        </p:txBody>
      </p:sp>
      <p:sp>
        <p:nvSpPr>
          <p:cNvPr id="33" name="Text 31"/>
          <p:cNvSpPr/>
          <p:nvPr/>
        </p:nvSpPr>
        <p:spPr>
          <a:xfrm>
            <a:off x="3343046" y="5264429"/>
            <a:ext cx="218358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547</a:t>
            </a:r>
            <a:endParaRPr lang="en-US" sz="1380" dirty="0"/>
          </a:p>
        </p:txBody>
      </p:sp>
      <p:sp>
        <p:nvSpPr>
          <p:cNvPr id="34" name="Text 32"/>
          <p:cNvSpPr/>
          <p:nvPr/>
        </p:nvSpPr>
        <p:spPr>
          <a:xfrm>
            <a:off x="5537606" y="5264429"/>
            <a:ext cx="236646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80.09%</a:t>
            </a:r>
            <a:endParaRPr lang="en-US" sz="1380" dirty="0"/>
          </a:p>
        </p:txBody>
      </p:sp>
      <p:sp>
        <p:nvSpPr>
          <p:cNvPr id="35" name="Text 33"/>
          <p:cNvSpPr/>
          <p:nvPr/>
        </p:nvSpPr>
        <p:spPr>
          <a:xfrm>
            <a:off x="7915046" y="5264429"/>
            <a:ext cx="27322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683</a:t>
            </a:r>
            <a:endParaRPr lang="en-US" sz="1380" dirty="0"/>
          </a:p>
        </p:txBody>
      </p:sp>
      <p:sp>
        <p:nvSpPr>
          <p:cNvPr id="36" name="Text 34"/>
          <p:cNvSpPr/>
          <p:nvPr/>
        </p:nvSpPr>
        <p:spPr>
          <a:xfrm>
            <a:off x="82296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5B67"/>
                </a:solidFill>
              </a:rPr>
              <a:t>Because the selection is done per class, the actual percentage is approximate after rounding.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observed accuracy for each experiment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5B67"/>
                </a:solidFill>
              </a:rPr>
              <a:t>P3/P5 = both modalities available. P4/P6 = face missing at test time.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44398" y="1239926"/>
            <a:ext cx="1954987" cy="554812"/>
          </a:xfrm>
          <a:prstGeom prst="rect">
            <a:avLst/>
          </a:prstGeom>
          <a:solidFill>
            <a:srgbClr val="17324D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missing face</a:t>
            </a:r>
            <a:endParaRPr lang="en-US" sz="1270" dirty="0"/>
          </a:p>
        </p:txBody>
      </p:sp>
      <p:sp>
        <p:nvSpPr>
          <p:cNvPr id="5" name="Text 3"/>
          <p:cNvSpPr/>
          <p:nvPr/>
        </p:nvSpPr>
        <p:spPr>
          <a:xfrm>
            <a:off x="2410358" y="1239926"/>
            <a:ext cx="2046427" cy="554812"/>
          </a:xfrm>
          <a:prstGeom prst="rect">
            <a:avLst/>
          </a:prstGeom>
          <a:solidFill>
            <a:srgbClr val="17324D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P3 German</a:t>
            </a:r>
            <a:endParaRPr lang="en-US" sz="1270" dirty="0"/>
          </a:p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</a:t>
            </a:r>
            <a:endParaRPr lang="en-US" sz="1270" dirty="0"/>
          </a:p>
        </p:txBody>
      </p:sp>
      <p:sp>
        <p:nvSpPr>
          <p:cNvPr id="6" name="Text 4"/>
          <p:cNvSpPr/>
          <p:nvPr/>
        </p:nvSpPr>
        <p:spPr>
          <a:xfrm>
            <a:off x="4467758" y="1239926"/>
            <a:ext cx="2229307" cy="554812"/>
          </a:xfrm>
          <a:prstGeom prst="rect">
            <a:avLst/>
          </a:prstGeom>
          <a:solidFill>
            <a:srgbClr val="17324D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P4 German</a:t>
            </a:r>
            <a:endParaRPr lang="en-US" sz="1270" dirty="0"/>
          </a:p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= 0</a:t>
            </a:r>
            <a:endParaRPr lang="en-US" sz="1270" dirty="0"/>
          </a:p>
        </p:txBody>
      </p:sp>
      <p:sp>
        <p:nvSpPr>
          <p:cNvPr id="7" name="Text 5"/>
          <p:cNvSpPr/>
          <p:nvPr/>
        </p:nvSpPr>
        <p:spPr>
          <a:xfrm>
            <a:off x="6708038" y="1239926"/>
            <a:ext cx="2046427" cy="554812"/>
          </a:xfrm>
          <a:prstGeom prst="rect">
            <a:avLst/>
          </a:prstGeom>
          <a:solidFill>
            <a:srgbClr val="17324D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 English</a:t>
            </a:r>
            <a:endParaRPr lang="en-US" sz="1270" dirty="0"/>
          </a:p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8765438" y="1239926"/>
            <a:ext cx="2229307" cy="554812"/>
          </a:xfrm>
          <a:prstGeom prst="rect">
            <a:avLst/>
          </a:prstGeom>
          <a:solidFill>
            <a:srgbClr val="17324D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P6 English</a:t>
            </a:r>
            <a:endParaRPr lang="en-US" sz="1270" dirty="0"/>
          </a:p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= 0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444398" y="1805711"/>
            <a:ext cx="195498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270" dirty="0"/>
          </a:p>
        </p:txBody>
      </p:sp>
      <p:sp>
        <p:nvSpPr>
          <p:cNvPr id="10" name="Text 8"/>
          <p:cNvSpPr/>
          <p:nvPr/>
        </p:nvSpPr>
        <p:spPr>
          <a:xfrm>
            <a:off x="2410358" y="1805711"/>
            <a:ext cx="20464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97.66%</a:t>
            </a:r>
            <a:endParaRPr lang="en-US" sz="1270" dirty="0"/>
          </a:p>
        </p:txBody>
      </p:sp>
      <p:sp>
        <p:nvSpPr>
          <p:cNvPr id="11" name="Text 9"/>
          <p:cNvSpPr/>
          <p:nvPr/>
        </p:nvSpPr>
        <p:spPr>
          <a:xfrm>
            <a:off x="4467758" y="1805711"/>
            <a:ext cx="222930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74.85%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6708038" y="1805711"/>
            <a:ext cx="20464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96.12%</a:t>
            </a:r>
            <a:endParaRPr lang="en-US" sz="1270" dirty="0"/>
          </a:p>
        </p:txBody>
      </p:sp>
      <p:sp>
        <p:nvSpPr>
          <p:cNvPr id="13" name="Text 11"/>
          <p:cNvSpPr/>
          <p:nvPr/>
        </p:nvSpPr>
        <p:spPr>
          <a:xfrm>
            <a:off x="8765438" y="1805711"/>
            <a:ext cx="222930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73.71%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444398" y="2371496"/>
            <a:ext cx="195498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2410358" y="2371496"/>
            <a:ext cx="20464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92.69%</a:t>
            </a:r>
            <a:endParaRPr lang="en-US" sz="1270" dirty="0"/>
          </a:p>
        </p:txBody>
      </p:sp>
      <p:sp>
        <p:nvSpPr>
          <p:cNvPr id="16" name="Text 14"/>
          <p:cNvSpPr/>
          <p:nvPr/>
        </p:nvSpPr>
        <p:spPr>
          <a:xfrm>
            <a:off x="4467758" y="2371496"/>
            <a:ext cx="222930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77.78%</a:t>
            </a:r>
            <a:endParaRPr lang="en-US" sz="1270" dirty="0"/>
          </a:p>
        </p:txBody>
      </p:sp>
      <p:sp>
        <p:nvSpPr>
          <p:cNvPr id="17" name="Text 15"/>
          <p:cNvSpPr/>
          <p:nvPr/>
        </p:nvSpPr>
        <p:spPr>
          <a:xfrm>
            <a:off x="6708038" y="2371496"/>
            <a:ext cx="20464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97.84%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8765438" y="2371496"/>
            <a:ext cx="222930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82.76%</a:t>
            </a:r>
            <a:endParaRPr lang="en-US" sz="1270" dirty="0"/>
          </a:p>
        </p:txBody>
      </p:sp>
      <p:sp>
        <p:nvSpPr>
          <p:cNvPr id="19" name="Text 17"/>
          <p:cNvSpPr/>
          <p:nvPr/>
        </p:nvSpPr>
        <p:spPr>
          <a:xfrm>
            <a:off x="444398" y="2937281"/>
            <a:ext cx="195498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270" dirty="0"/>
          </a:p>
        </p:txBody>
      </p:sp>
      <p:sp>
        <p:nvSpPr>
          <p:cNvPr id="20" name="Text 18"/>
          <p:cNvSpPr/>
          <p:nvPr/>
        </p:nvSpPr>
        <p:spPr>
          <a:xfrm>
            <a:off x="2410358" y="2937281"/>
            <a:ext cx="20464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91.23%</a:t>
            </a:r>
            <a:endParaRPr lang="en-US" sz="1270" dirty="0"/>
          </a:p>
        </p:txBody>
      </p:sp>
      <p:sp>
        <p:nvSpPr>
          <p:cNvPr id="21" name="Text 19"/>
          <p:cNvSpPr/>
          <p:nvPr/>
        </p:nvSpPr>
        <p:spPr>
          <a:xfrm>
            <a:off x="4467758" y="2937281"/>
            <a:ext cx="222930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81.58%</a:t>
            </a:r>
            <a:endParaRPr lang="en-US" sz="1270" dirty="0"/>
          </a:p>
        </p:txBody>
      </p:sp>
      <p:sp>
        <p:nvSpPr>
          <p:cNvPr id="22" name="Text 20"/>
          <p:cNvSpPr/>
          <p:nvPr/>
        </p:nvSpPr>
        <p:spPr>
          <a:xfrm>
            <a:off x="6708038" y="2937281"/>
            <a:ext cx="20464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96.55%</a:t>
            </a:r>
            <a:endParaRPr lang="en-US" sz="1270" dirty="0"/>
          </a:p>
        </p:txBody>
      </p:sp>
      <p:sp>
        <p:nvSpPr>
          <p:cNvPr id="23" name="Text 21"/>
          <p:cNvSpPr/>
          <p:nvPr/>
        </p:nvSpPr>
        <p:spPr>
          <a:xfrm>
            <a:off x="8765438" y="2937281"/>
            <a:ext cx="222930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88.36%</a:t>
            </a:r>
            <a:endParaRPr lang="en-US" sz="1270" dirty="0"/>
          </a:p>
        </p:txBody>
      </p:sp>
      <p:sp>
        <p:nvSpPr>
          <p:cNvPr id="24" name="Text 22"/>
          <p:cNvSpPr/>
          <p:nvPr/>
        </p:nvSpPr>
        <p:spPr>
          <a:xfrm>
            <a:off x="444398" y="3503066"/>
            <a:ext cx="195498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2410358" y="3503066"/>
            <a:ext cx="20464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88.89%</a:t>
            </a:r>
            <a:endParaRPr lang="en-US" sz="1270" dirty="0"/>
          </a:p>
        </p:txBody>
      </p:sp>
      <p:sp>
        <p:nvSpPr>
          <p:cNvPr id="26" name="Text 24"/>
          <p:cNvSpPr/>
          <p:nvPr/>
        </p:nvSpPr>
        <p:spPr>
          <a:xfrm>
            <a:off x="4467758" y="3503066"/>
            <a:ext cx="222930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80.70%</a:t>
            </a:r>
            <a:endParaRPr lang="en-US" sz="1270" dirty="0"/>
          </a:p>
        </p:txBody>
      </p:sp>
      <p:sp>
        <p:nvSpPr>
          <p:cNvPr id="27" name="Text 25"/>
          <p:cNvSpPr/>
          <p:nvPr/>
        </p:nvSpPr>
        <p:spPr>
          <a:xfrm>
            <a:off x="6708038" y="3503066"/>
            <a:ext cx="20464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97.84%</a:t>
            </a:r>
            <a:endParaRPr lang="en-US" sz="1270" dirty="0"/>
          </a:p>
        </p:txBody>
      </p:sp>
      <p:sp>
        <p:nvSpPr>
          <p:cNvPr id="28" name="Text 26"/>
          <p:cNvSpPr/>
          <p:nvPr/>
        </p:nvSpPr>
        <p:spPr>
          <a:xfrm>
            <a:off x="8765438" y="3503066"/>
            <a:ext cx="222930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84.91%</a:t>
            </a:r>
            <a:endParaRPr lang="en-US" sz="1270" dirty="0"/>
          </a:p>
        </p:txBody>
      </p:sp>
      <p:sp>
        <p:nvSpPr>
          <p:cNvPr id="29" name="Text 27"/>
          <p:cNvSpPr/>
          <p:nvPr/>
        </p:nvSpPr>
        <p:spPr>
          <a:xfrm>
            <a:off x="444398" y="4068851"/>
            <a:ext cx="195498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270" dirty="0"/>
          </a:p>
        </p:txBody>
      </p:sp>
      <p:sp>
        <p:nvSpPr>
          <p:cNvPr id="30" name="Text 28"/>
          <p:cNvSpPr/>
          <p:nvPr/>
        </p:nvSpPr>
        <p:spPr>
          <a:xfrm>
            <a:off x="2410358" y="4068851"/>
            <a:ext cx="20464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92.11%</a:t>
            </a:r>
            <a:endParaRPr lang="en-US" sz="1270" dirty="0"/>
          </a:p>
        </p:txBody>
      </p:sp>
      <p:sp>
        <p:nvSpPr>
          <p:cNvPr id="31" name="Text 29"/>
          <p:cNvSpPr/>
          <p:nvPr/>
        </p:nvSpPr>
        <p:spPr>
          <a:xfrm>
            <a:off x="4467758" y="4068851"/>
            <a:ext cx="222930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79.53%</a:t>
            </a:r>
            <a:endParaRPr lang="en-US" sz="1270" dirty="0"/>
          </a:p>
        </p:txBody>
      </p:sp>
      <p:sp>
        <p:nvSpPr>
          <p:cNvPr id="32" name="Text 30"/>
          <p:cNvSpPr/>
          <p:nvPr/>
        </p:nvSpPr>
        <p:spPr>
          <a:xfrm>
            <a:off x="6708038" y="4068851"/>
            <a:ext cx="20464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96.98%</a:t>
            </a:r>
            <a:endParaRPr lang="en-US" sz="1270" dirty="0"/>
          </a:p>
        </p:txBody>
      </p:sp>
      <p:sp>
        <p:nvSpPr>
          <p:cNvPr id="33" name="Text 31"/>
          <p:cNvSpPr/>
          <p:nvPr/>
        </p:nvSpPr>
        <p:spPr>
          <a:xfrm>
            <a:off x="8765438" y="4068851"/>
            <a:ext cx="222930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85.78%</a:t>
            </a:r>
            <a:endParaRPr lang="en-US" sz="1270" dirty="0"/>
          </a:p>
        </p:txBody>
      </p:sp>
      <p:sp>
        <p:nvSpPr>
          <p:cNvPr id="34" name="Text 32"/>
          <p:cNvSpPr/>
          <p:nvPr/>
        </p:nvSpPr>
        <p:spPr>
          <a:xfrm>
            <a:off x="444398" y="4634636"/>
            <a:ext cx="195498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sz="1270" dirty="0"/>
          </a:p>
        </p:txBody>
      </p:sp>
      <p:sp>
        <p:nvSpPr>
          <p:cNvPr id="35" name="Text 33"/>
          <p:cNvSpPr/>
          <p:nvPr/>
        </p:nvSpPr>
        <p:spPr>
          <a:xfrm>
            <a:off x="2410358" y="4634636"/>
            <a:ext cx="20464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85.38%</a:t>
            </a:r>
            <a:endParaRPr lang="en-US" sz="1270" dirty="0"/>
          </a:p>
        </p:txBody>
      </p:sp>
      <p:sp>
        <p:nvSpPr>
          <p:cNvPr id="36" name="Text 34"/>
          <p:cNvSpPr/>
          <p:nvPr/>
        </p:nvSpPr>
        <p:spPr>
          <a:xfrm>
            <a:off x="4467758" y="4634636"/>
            <a:ext cx="222930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83.33%</a:t>
            </a:r>
            <a:endParaRPr lang="en-US" sz="1270" dirty="0"/>
          </a:p>
        </p:txBody>
      </p:sp>
      <p:sp>
        <p:nvSpPr>
          <p:cNvPr id="37" name="Text 35"/>
          <p:cNvSpPr/>
          <p:nvPr/>
        </p:nvSpPr>
        <p:spPr>
          <a:xfrm>
            <a:off x="6708038" y="4634636"/>
            <a:ext cx="20464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95.69%</a:t>
            </a:r>
            <a:endParaRPr lang="en-US" sz="1270" dirty="0"/>
          </a:p>
        </p:txBody>
      </p:sp>
      <p:sp>
        <p:nvSpPr>
          <p:cNvPr id="38" name="Text 36"/>
          <p:cNvSpPr/>
          <p:nvPr/>
        </p:nvSpPr>
        <p:spPr>
          <a:xfrm>
            <a:off x="8765438" y="4634636"/>
            <a:ext cx="222930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92.24%</a:t>
            </a:r>
            <a:endParaRPr lang="en-US" sz="1270" dirty="0"/>
          </a:p>
        </p:txBody>
      </p:sp>
      <p:sp>
        <p:nvSpPr>
          <p:cNvPr id="39" name="Text 37"/>
          <p:cNvSpPr/>
          <p:nvPr/>
        </p:nvSpPr>
        <p:spPr>
          <a:xfrm>
            <a:off x="444398" y="5200421"/>
            <a:ext cx="195498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80%</a:t>
            </a:r>
            <a:endParaRPr lang="en-US" sz="1270" dirty="0"/>
          </a:p>
        </p:txBody>
      </p:sp>
      <p:sp>
        <p:nvSpPr>
          <p:cNvPr id="40" name="Text 38"/>
          <p:cNvSpPr/>
          <p:nvPr/>
        </p:nvSpPr>
        <p:spPr>
          <a:xfrm>
            <a:off x="2410358" y="5200421"/>
            <a:ext cx="20464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83.92%</a:t>
            </a:r>
            <a:endParaRPr lang="en-US" sz="1270" dirty="0"/>
          </a:p>
        </p:txBody>
      </p:sp>
      <p:sp>
        <p:nvSpPr>
          <p:cNvPr id="41" name="Text 39"/>
          <p:cNvSpPr/>
          <p:nvPr/>
        </p:nvSpPr>
        <p:spPr>
          <a:xfrm>
            <a:off x="4467758" y="5200421"/>
            <a:ext cx="222930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85.09%</a:t>
            </a:r>
            <a:endParaRPr lang="en-US" sz="1270" dirty="0"/>
          </a:p>
        </p:txBody>
      </p:sp>
      <p:sp>
        <p:nvSpPr>
          <p:cNvPr id="42" name="Text 40"/>
          <p:cNvSpPr/>
          <p:nvPr/>
        </p:nvSpPr>
        <p:spPr>
          <a:xfrm>
            <a:off x="6708038" y="5200421"/>
            <a:ext cx="204642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94.83%</a:t>
            </a:r>
            <a:endParaRPr lang="en-US" sz="1270" dirty="0"/>
          </a:p>
        </p:txBody>
      </p:sp>
      <p:sp>
        <p:nvSpPr>
          <p:cNvPr id="43" name="Text 41"/>
          <p:cNvSpPr/>
          <p:nvPr/>
        </p:nvSpPr>
        <p:spPr>
          <a:xfrm>
            <a:off x="8765438" y="5200421"/>
            <a:ext cx="2229307" cy="55481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95.26%</a:t>
            </a:r>
            <a:endParaRPr lang="en-US" sz="1270" dirty="0"/>
          </a:p>
        </p:txBody>
      </p:sp>
      <p:sp>
        <p:nvSpPr>
          <p:cNvPr id="44" name="Text 42"/>
          <p:cNvSpPr/>
          <p:nvPr/>
        </p:nvSpPr>
        <p:spPr>
          <a:xfrm>
            <a:off x="502920" y="5943600"/>
            <a:ext cx="10972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F5B67"/>
                </a:solidFill>
              </a:rPr>
              <a:t>Note: these are the best observed values per metric during training, as printed by the logs.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Missing-face robustness improved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5B67"/>
                </a:solidFill>
              </a:rPr>
              <a:t>Training with missing face made the model stronger when face is unavailable at test time.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234440"/>
          <a:ext cx="74980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64108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Main observation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641080" y="1892808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80ED"/>
                </a:solidFill>
              </a:rPr>
              <a:t>•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86968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0% training gives weak missing-face performance.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41080" y="2624328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80ED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86968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10–20% already improves robustness clearly.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41080" y="3355848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80ED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86968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50–80% gives the strongest missing-face robustness.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41080" y="4736592"/>
            <a:ext cx="28803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</a:rPr>
              <a:t>P6 increased from 73.71% at 0% to 95.26% at 80%.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616</Words>
  <Application>Microsoft Office PowerPoint</Application>
  <PresentationFormat>Widescreen</PresentationFormat>
  <Paragraphs>136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PolySim Missing Face Experiments</dc:title>
  <dc:subject>PolySim missing face experiments</dc:subject>
  <dc:creator>OpenAI</dc:creator>
  <cp:lastModifiedBy>Abdulaziz Yaser</cp:lastModifiedBy>
  <cp:revision>2</cp:revision>
  <dcterms:created xsi:type="dcterms:W3CDTF">2026-07-02T08:57:58Z</dcterms:created>
  <dcterms:modified xsi:type="dcterms:W3CDTF">2026-07-02T11:25:08Z</dcterms:modified>
</cp:coreProperties>
</file>