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25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assignment goal: translate a spoken video into German while keeping the original speaker identity and aligning the lips. Mention that the work covers all four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input and output in one minute: one English input video is converted to a German lip-synced video, then evaluated using embeddings and the FOP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stages quickly. Emphasize that matching audio length before Wav2Lip prevents timing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practical engineering details. Mention that splitting the German text prevented XTTS warnings and padding kept the audio-video timing aligned.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Task 2 matches the expected FOP feature dimensions: 192 for ECAPA and 512 for FaceNet. Mention visual similarity is very high; audio similarity lower but still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the earlier incorrect output was fixed by using output[1] as the logits. The generated sample is correct with high confidence and a large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50 was chosen: close to the upper distribution, but not as extreme as the largest class. The total needed is 708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three key claims: pipeline completed, identity preserved, and the synthetic data plan is quantified.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dulaziz123123123/Special_topics_2026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9F"/>
                </a:solidFill>
              </a:rPr>
              <a:t>Assignment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32D3C"/>
                </a:solidFill>
              </a:rPr>
              <a:t>Complete Spoken‑Video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32D3C"/>
                </a:solidFill>
              </a:rPr>
              <a:t>Translation Pipeline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16B"/>
                </a:solidFill>
              </a:rPr>
              <a:t>Preserving speaker voice characteristics and synchronizing lip movements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90472" y="4370832"/>
            <a:ext cx="941832" cy="0"/>
          </a:xfrm>
          <a:prstGeom prst="line">
            <a:avLst/>
          </a:prstGeom>
          <a:noFill/>
          <a:ln w="19050">
            <a:solidFill>
              <a:srgbClr val="0079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3886200"/>
            <a:ext cx="1024128" cy="1024128"/>
          </a:xfrm>
          <a:prstGeom prst="ellipse">
            <a:avLst/>
          </a:prstGeom>
          <a:solidFill>
            <a:srgbClr val="00799F"/>
          </a:solidFill>
          <a:ln w="1524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417880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D3C"/>
                </a:solidFill>
              </a:rPr>
              <a:t>Video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36392" y="4370832"/>
            <a:ext cx="941832" cy="0"/>
          </a:xfrm>
          <a:prstGeom prst="line">
            <a:avLst/>
          </a:prstGeom>
          <a:noFill/>
          <a:ln w="19050">
            <a:solidFill>
              <a:srgbClr val="0079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423160" y="3886200"/>
            <a:ext cx="1024128" cy="1024128"/>
          </a:xfrm>
          <a:prstGeom prst="ellipse">
            <a:avLst/>
          </a:prstGeom>
          <a:solidFill>
            <a:srgbClr val="E5F6FA"/>
          </a:solidFill>
          <a:ln w="1524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423160" y="417880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99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0" y="5029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D3C"/>
                </a:solidFill>
              </a:rPr>
              <a:t>ASR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82312" y="4370832"/>
            <a:ext cx="941832" cy="0"/>
          </a:xfrm>
          <a:prstGeom prst="line">
            <a:avLst/>
          </a:prstGeom>
          <a:noFill/>
          <a:ln w="19050">
            <a:solidFill>
              <a:srgbClr val="0079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069080" y="3886200"/>
            <a:ext cx="1024128" cy="1024128"/>
          </a:xfrm>
          <a:prstGeom prst="ellipse">
            <a:avLst/>
          </a:prstGeom>
          <a:solidFill>
            <a:srgbClr val="00799F"/>
          </a:solidFill>
          <a:ln w="1524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069080" y="417880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5029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D3C"/>
                </a:solidFill>
              </a:rPr>
              <a:t>Translate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28232" y="4370832"/>
            <a:ext cx="941832" cy="0"/>
          </a:xfrm>
          <a:prstGeom prst="line">
            <a:avLst/>
          </a:prstGeom>
          <a:noFill/>
          <a:ln w="19050">
            <a:solidFill>
              <a:srgbClr val="0079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715000" y="3886200"/>
            <a:ext cx="1024128" cy="1024128"/>
          </a:xfrm>
          <a:prstGeom prst="ellipse">
            <a:avLst/>
          </a:prstGeom>
          <a:solidFill>
            <a:srgbClr val="E5F6FA"/>
          </a:solidFill>
          <a:ln w="1524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15000" y="417880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99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77840" y="5029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D3C"/>
                </a:solidFill>
              </a:rPr>
              <a:t>Voice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74152" y="4370832"/>
            <a:ext cx="941832" cy="0"/>
          </a:xfrm>
          <a:prstGeom prst="line">
            <a:avLst/>
          </a:prstGeom>
          <a:noFill/>
          <a:ln w="19050">
            <a:solidFill>
              <a:srgbClr val="00799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360920" y="3886200"/>
            <a:ext cx="1024128" cy="1024128"/>
          </a:xfrm>
          <a:prstGeom prst="ellipse">
            <a:avLst/>
          </a:prstGeom>
          <a:solidFill>
            <a:srgbClr val="00799F"/>
          </a:solidFill>
          <a:ln w="1524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360920" y="417880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23760" y="5029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D3C"/>
                </a:solidFill>
              </a:rPr>
              <a:t>Lip‑sync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06840" y="3886200"/>
            <a:ext cx="1024128" cy="1024128"/>
          </a:xfrm>
          <a:prstGeom prst="ellipse">
            <a:avLst/>
          </a:prstGeom>
          <a:solidFill>
            <a:srgbClr val="E5F6FA"/>
          </a:solidFill>
          <a:ln w="1524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006840" y="417880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799F"/>
                </a:solidFill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69680" y="5029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D3C"/>
                </a:solidFill>
              </a:rPr>
              <a:t>Baseline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" y="5806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16B"/>
                </a:solidFill>
              </a:rPr>
              <a:t>Mohamed Kitaz &amp; Abdulaziz Kitaz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616B"/>
                </a:solidFill>
              </a:rPr>
              <a:t>Johannes Kepler University Linz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D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system has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616B"/>
                </a:solidFill>
              </a:rPr>
              <a:t>The challenge is not only translation: it is identity-preserving audio‑visual generation.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0972800" cy="0"/>
          </a:xfrm>
          <a:prstGeom prst="line">
            <a:avLst/>
          </a:prstGeom>
          <a:noFill/>
          <a:ln w="12700">
            <a:solidFill>
              <a:srgbClr val="D7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0"/>
                </a:solidFill>
              </a:rPr>
              <a:t>Assignment 3 | Complete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99F"/>
                </a:solidFill>
              </a:rPr>
              <a:t>Input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2926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</a:rPr>
              <a:t>One English video from identity id0001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</a:rPr>
              <a:t>h_vamljclHE / 00000.avi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2240280"/>
            <a:ext cx="914400" cy="0"/>
          </a:xfrm>
          <a:prstGeom prst="line">
            <a:avLst/>
          </a:prstGeom>
          <a:noFill/>
          <a:ln w="2540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166360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99F"/>
                </a:solidFill>
              </a:rPr>
              <a:t>Target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6360" y="1938528"/>
            <a:ext cx="3200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</a:rPr>
              <a:t>German speech with similar voice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</a:rPr>
              <a:t>+ synchronized mouth movement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0" y="2240280"/>
            <a:ext cx="731520" cy="0"/>
          </a:xfrm>
          <a:prstGeom prst="line">
            <a:avLst/>
          </a:prstGeom>
          <a:noFill/>
          <a:ln w="2540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418320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99F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18320" y="1938528"/>
            <a:ext cx="2148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</a:rPr>
              <a:t>Embeddings + FOP baseline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1820"/>
                </a:solidFill>
              </a:rPr>
              <a:t>classification on id0001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69264" y="381304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91.36 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7552" y="4279392"/>
            <a:ext cx="2002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original audio duration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36576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575304" y="381304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German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93592" y="4279392"/>
            <a:ext cx="2002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target language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6576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181344" y="381304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36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99632" y="4279392"/>
            <a:ext cx="2002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baseline identities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41080" y="36576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787384" y="381304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</a:rPr>
              <a:t>100%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805672" y="4279392"/>
            <a:ext cx="2002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baseline accuracy on two A3 samples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5532120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D3C"/>
                </a:solidFill>
              </a:rPr>
              <a:t>Main output: outputs/video_lipsync/sample_lipsync_full_de.mp4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D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— Pipeline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616B"/>
                </a:solidFill>
              </a:rPr>
              <a:t>Seven practical stages turn the original English clip into a German lip‑synchronized video.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0972800" cy="0"/>
          </a:xfrm>
          <a:prstGeom prst="line">
            <a:avLst/>
          </a:prstGeom>
          <a:noFill/>
          <a:ln w="12700">
            <a:solidFill>
              <a:srgbClr val="D7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0"/>
                </a:solidFill>
              </a:rPr>
              <a:t>Assignment 3 | Complete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93392" y="2221992"/>
            <a:ext cx="210312" cy="0"/>
          </a:xfrm>
          <a:prstGeom prst="line">
            <a:avLst/>
          </a:prstGeom>
          <a:noFill/>
          <a:ln w="1778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8FCFD"/>
          </a:solidFill>
          <a:ln w="13970">
            <a:solidFill>
              <a:srgbClr val="CB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66928" y="17099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9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19933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D3C"/>
                </a:solidFill>
              </a:rPr>
              <a:t>FFmpeg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" y="2322576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2616B"/>
                </a:solidFill>
              </a:rPr>
              <a:t>extract WAV audio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666744" y="2221992"/>
            <a:ext cx="210312" cy="0"/>
          </a:xfrm>
          <a:prstGeom prst="line">
            <a:avLst/>
          </a:prstGeom>
          <a:noFill/>
          <a:ln w="1778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176272" y="1627632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8FCFD"/>
          </a:solidFill>
          <a:ln w="13970">
            <a:solidFill>
              <a:srgbClr val="CB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9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19933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D3C"/>
                </a:solidFill>
              </a:rPr>
              <a:t>Whisper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286000" y="2322576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2616B"/>
                </a:solidFill>
              </a:rPr>
              <a:t>detect language + transcribe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340096" y="2221992"/>
            <a:ext cx="210312" cy="0"/>
          </a:xfrm>
          <a:prstGeom prst="line">
            <a:avLst/>
          </a:prstGeom>
          <a:noFill/>
          <a:ln w="1778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849624" y="1627632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8FCFD"/>
          </a:solidFill>
          <a:ln w="13970">
            <a:solidFill>
              <a:srgbClr val="CB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913632" y="17099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9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59352" y="19933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D3C"/>
                </a:solidFill>
              </a:rPr>
              <a:t>Translator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59352" y="2322576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2616B"/>
                </a:solidFill>
              </a:rPr>
              <a:t>English → German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013448" y="2221992"/>
            <a:ext cx="210312" cy="0"/>
          </a:xfrm>
          <a:prstGeom prst="line">
            <a:avLst/>
          </a:prstGeom>
          <a:noFill/>
          <a:ln w="1778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522976" y="1627632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8FCFD"/>
          </a:solidFill>
          <a:ln w="13970">
            <a:solidFill>
              <a:srgbClr val="CB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586984" y="17099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9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32704" y="19933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D3C"/>
                </a:solidFill>
              </a:rPr>
              <a:t>XTTS v2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32704" y="2322576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2616B"/>
                </a:solidFill>
              </a:rPr>
              <a:t>voice‑cloned German speech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686800" y="2221992"/>
            <a:ext cx="210312" cy="0"/>
          </a:xfrm>
          <a:prstGeom prst="line">
            <a:avLst/>
          </a:prstGeom>
          <a:noFill/>
          <a:ln w="1778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7196328" y="1627632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8FCFD"/>
          </a:solidFill>
          <a:ln w="13970">
            <a:solidFill>
              <a:srgbClr val="CB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260336" y="17099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9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06056" y="19933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D3C"/>
                </a:solidFill>
              </a:rPr>
              <a:t>Duration match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306056" y="2322576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2616B"/>
                </a:solidFill>
              </a:rPr>
              <a:t>pad/trim to 91.36 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10360152" y="2221992"/>
            <a:ext cx="210312" cy="0"/>
          </a:xfrm>
          <a:prstGeom prst="line">
            <a:avLst/>
          </a:prstGeom>
          <a:noFill/>
          <a:ln w="17780">
            <a:solidFill>
              <a:srgbClr val="00799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8869680" y="1627632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F8FCFD"/>
          </a:solidFill>
          <a:ln w="13970">
            <a:solidFill>
              <a:srgbClr val="CBE5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933688" y="17099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9F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79408" y="19933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D3C"/>
                </a:solidFill>
              </a:rPr>
              <a:t>Wav2Lip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979408" y="2322576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2616B"/>
                </a:solidFill>
              </a:rPr>
              <a:t>synchronize lips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10543032" y="1627632"/>
            <a:ext cx="1508760" cy="1143000"/>
          </a:xfrm>
          <a:prstGeom prst="roundRect">
            <a:avLst>
              <a:gd name="adj" fmla="val 4800"/>
            </a:avLst>
          </a:prstGeom>
          <a:solidFill>
            <a:srgbClr val="E8F7EF"/>
          </a:solidFill>
          <a:ln w="1397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0607040" y="170992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99F"/>
                </a:solidFill>
              </a:rPr>
              <a:t>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52760" y="19933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D3C"/>
                </a:solidFill>
              </a:rPr>
              <a:t>Final video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652760" y="2322576"/>
            <a:ext cx="128930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2616B"/>
                </a:solidFill>
              </a:rPr>
              <a:t>German lip‑synced output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77724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D3C"/>
                </a:solidFill>
              </a:rPr>
              <a:t>Key generated artifacts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68680" y="3858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99F"/>
                </a:solidFill>
              </a:rPr>
              <a:t>Stage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788920" y="38587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99F"/>
                </a:solidFill>
              </a:rPr>
              <a:t>File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098280" y="3858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99F"/>
                </a:solidFill>
              </a:rPr>
              <a:t>Detail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68680" y="4206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Original audio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2788920" y="42062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sample_original.wav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9098280" y="4206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91.36 s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822960" y="4434840"/>
            <a:ext cx="10424160" cy="0"/>
          </a:xfrm>
          <a:prstGeom prst="line">
            <a:avLst/>
          </a:prstGeom>
          <a:noFill/>
          <a:ln w="6350">
            <a:solidFill>
              <a:srgbClr val="DCEC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868680" y="4498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Speaker prompt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2788920" y="449884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sample_speaker_prompt_20s.wav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9098280" y="4498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20 s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822960" y="4727448"/>
            <a:ext cx="10424160" cy="0"/>
          </a:xfrm>
          <a:prstGeom prst="line">
            <a:avLst/>
          </a:prstGeom>
          <a:noFill/>
          <a:ln w="6350">
            <a:solidFill>
              <a:srgbClr val="DCEC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868680" y="47914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German TTS audio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2788920" y="479145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sample_generated_de_full_safe.wav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9098280" y="47914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88.52 s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822960" y="5020056"/>
            <a:ext cx="10424160" cy="0"/>
          </a:xfrm>
          <a:prstGeom prst="line">
            <a:avLst/>
          </a:prstGeom>
          <a:noFill/>
          <a:ln w="6350">
            <a:solidFill>
              <a:srgbClr val="DCEC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68680" y="50840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Matched audio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2788920" y="508406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sample_generated_de_full_safe_matched.wav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9098280" y="5084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91.36 s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822960" y="5312664"/>
            <a:ext cx="10424160" cy="0"/>
          </a:xfrm>
          <a:prstGeom prst="line">
            <a:avLst/>
          </a:prstGeom>
          <a:noFill/>
          <a:ln w="6350">
            <a:solidFill>
              <a:srgbClr val="DCEC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868680" y="53766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Final video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2788920" y="537667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sample_lipsync_full_de.mp4</a:t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9098280" y="5376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1820"/>
                </a:solidFill>
              </a:rPr>
              <a:t>91.24 s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822960" y="5605272"/>
            <a:ext cx="10424160" cy="0"/>
          </a:xfrm>
          <a:prstGeom prst="line">
            <a:avLst/>
          </a:prstGeom>
          <a:noFill/>
          <a:ln w="6350">
            <a:solidFill>
              <a:srgbClr val="DCEC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D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— Implementation choices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616B"/>
                </a:solidFill>
              </a:rPr>
              <a:t>The pipeline uses established models, with small fixes for long speech and timing.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0972800" cy="0"/>
          </a:xfrm>
          <a:prstGeom prst="line">
            <a:avLst/>
          </a:prstGeom>
          <a:noFill/>
          <a:ln w="12700">
            <a:solidFill>
              <a:srgbClr val="D7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0"/>
                </a:solidFill>
              </a:rPr>
              <a:t>Assignment 3 | Complete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550" dirty="0">
                <a:solidFill>
                  <a:srgbClr val="101820"/>
                </a:solidFill>
              </a:rPr>
              <a:t>Whisper detected English and produced the transcription.</a:t>
            </a:r>
            <a:endParaRPr lang="en-US" sz="1550" dirty="0"/>
          </a:p>
          <a:p>
            <a:r>
              <a:rPr lang="en-US" sz="1550" dirty="0">
                <a:solidFill>
                  <a:srgbClr val="101820"/>
                </a:solidFill>
              </a:rPr>
              <a:t>The text was translated to German, then lightly cleaned for clear output.</a:t>
            </a:r>
            <a:endParaRPr lang="en-US" sz="1550" dirty="0"/>
          </a:p>
          <a:p>
            <a:r>
              <a:rPr lang="en-US" sz="1550" dirty="0">
                <a:solidFill>
                  <a:srgbClr val="101820"/>
                </a:solidFill>
              </a:rPr>
              <a:t>XTTS v2 used a 20‑second speaker prompt to clone the voice style.</a:t>
            </a:r>
            <a:endParaRPr lang="en-US" sz="1550" dirty="0"/>
          </a:p>
          <a:p>
            <a:r>
              <a:rPr lang="en-US" sz="1550" dirty="0">
                <a:solidFill>
                  <a:srgbClr val="101820"/>
                </a:solidFill>
              </a:rPr>
              <a:t>Long German text was split into 8 chunks to avoid XTTS truncation warnings.</a:t>
            </a:r>
            <a:endParaRPr lang="en-US" sz="1550" dirty="0"/>
          </a:p>
          <a:p>
            <a:r>
              <a:rPr lang="en-US" sz="1550" dirty="0">
                <a:solidFill>
                  <a:srgbClr val="101820"/>
                </a:solidFill>
              </a:rPr>
              <a:t>Generated German audio was padded from 88.52 s to 91.36 s before lip‑sync.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72084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D3C"/>
                </a:solidFill>
              </a:rPr>
              <a:t>Timing alignment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1820"/>
                </a:solidFill>
              </a:rPr>
              <a:t>Original audio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732520" y="2084832"/>
            <a:ext cx="1920240" cy="210312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927080" y="2057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16B"/>
                </a:solidFill>
              </a:rPr>
              <a:t>91.36 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20840" y="2834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1820"/>
                </a:solidFill>
              </a:rPr>
              <a:t>Generated German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32520" y="2862072"/>
            <a:ext cx="1860548" cy="21031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927080" y="28346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16B"/>
                </a:solidFill>
              </a:rPr>
              <a:t>88.52 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1820"/>
                </a:solidFill>
              </a:rPr>
              <a:t>Matched German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32520" y="3639312"/>
            <a:ext cx="1920240" cy="2103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927080" y="36118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2616B"/>
                </a:solidFill>
              </a:rPr>
              <a:t>91.36 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2084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D3C"/>
                </a:solidFill>
              </a:rPr>
              <a:t>Final lip‑synced video: 25 FPS, 112 × 112 output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720840" y="5257800"/>
            <a:ext cx="47548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2616B"/>
                </a:solidFill>
              </a:rPr>
              <a:t>The output size is smaller because Wav2Lip was run with resize_factor = 2 for CPU‑friendly inference.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D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— Embedding extraction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616B"/>
                </a:solidFill>
              </a:rPr>
              <a:t>Original and generated samples were represented with the same feature dimensions as the FOP baseline.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0972800" cy="0"/>
          </a:xfrm>
          <a:prstGeom prst="line">
            <a:avLst/>
          </a:prstGeom>
          <a:noFill/>
          <a:ln w="12700">
            <a:solidFill>
              <a:srgbClr val="D7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0"/>
                </a:solidFill>
              </a:rPr>
              <a:t>Assignment 3 | Complete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D3C"/>
                </a:solidFill>
              </a:rPr>
              <a:t>Encoders used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4480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01820"/>
                </a:solidFill>
              </a:rPr>
              <a:t>Audio: ECAPA‑TDNN via SpeechBrain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01820"/>
                </a:solidFill>
              </a:rPr>
              <a:t>Visual: FaceNet / InceptionResnetV1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01820"/>
                </a:solidFill>
              </a:rPr>
              <a:t>Visual embedding: mean of 32 evenly sampled frames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9264" y="3904488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192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552" y="4370832"/>
            <a:ext cx="17282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audio embedding dimensions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374904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00984" y="3904488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512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9272" y="4370832"/>
            <a:ext cx="17282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visual embedding dimensions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9320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D3C"/>
                </a:solidFill>
              </a:rPr>
              <a:t>Cosine similarity: original vs generated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0760" y="2240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820"/>
                </a:solidFill>
              </a:rPr>
              <a:t>Audio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78040" y="2258568"/>
            <a:ext cx="3291840" cy="246888"/>
          </a:xfrm>
          <a:prstGeom prst="rect">
            <a:avLst/>
          </a:prstGeom>
          <a:solidFill>
            <a:srgbClr val="E8EEF1"/>
          </a:solidFill>
          <a:ln w="12700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178040" y="2258568"/>
            <a:ext cx="2291779" cy="24688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652760" y="22402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D3C"/>
                </a:solidFill>
              </a:rPr>
              <a:t>0.6962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820"/>
                </a:solidFill>
              </a:rPr>
              <a:t>Visual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78040" y="3264408"/>
            <a:ext cx="3291840" cy="246888"/>
          </a:xfrm>
          <a:prstGeom prst="rect">
            <a:avLst/>
          </a:prstGeom>
          <a:solidFill>
            <a:srgbClr val="E8EEF1"/>
          </a:solidFill>
          <a:ln w="12700">
            <a:solidFill>
              <a:srgbClr val="E8EE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178040" y="3264408"/>
            <a:ext cx="3227649" cy="2468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652760" y="3246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D3C"/>
                </a:solidFill>
              </a:rPr>
              <a:t>0.9805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D3C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4956048"/>
            <a:ext cx="51206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52616B"/>
                </a:solidFill>
              </a:rPr>
              <a:t>The face identity is almost unchanged after lip‑sync. Audio identity remains meaningful but changes more because the speech is synthetic and translated.</a:t>
            </a:r>
            <a:endParaRPr lang="en-US" sz="13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D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 — Baseline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616B"/>
                </a:solidFill>
              </a:rPr>
              <a:t>The generated sample remains recognizable by the FOP identity classifier.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0972800" cy="0"/>
          </a:xfrm>
          <a:prstGeom prst="line">
            <a:avLst/>
          </a:prstGeom>
          <a:noFill/>
          <a:ln w="12700">
            <a:solidFill>
              <a:srgbClr val="D7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0"/>
                </a:solidFill>
              </a:rPr>
              <a:t>Assignment 3 | Complete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9F"/>
                </a:solidFill>
              </a:rPr>
              <a:t>Sample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508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9F"/>
                </a:solidFill>
              </a:rPr>
              <a:t>True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9F"/>
                </a:solidFill>
              </a:rPr>
              <a:t>Pred.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508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9F"/>
                </a:solidFill>
              </a:rPr>
              <a:t>Top‑1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9F"/>
                </a:solidFill>
              </a:rPr>
              <a:t>2nd best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0" y="1508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99F"/>
                </a:solidFill>
              </a:rPr>
              <a:t>Margin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0"/>
                </a:solidFill>
              </a:rPr>
              <a:t>Original English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0.9999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0.0000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0.9999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2258568"/>
            <a:ext cx="9966960" cy="0"/>
          </a:xfrm>
          <a:prstGeom prst="line">
            <a:avLst/>
          </a:prstGeom>
          <a:noFill/>
          <a:ln w="6350">
            <a:solidFill>
              <a:srgbClr val="DCEC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822960" y="2404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0"/>
                </a:solidFill>
              </a:rPr>
              <a:t>Generated German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2404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404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404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0.9541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2404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0.0422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8320" y="2404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</a:rPr>
              <a:t>0.9119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2697480"/>
            <a:ext cx="9966960" cy="0"/>
          </a:xfrm>
          <a:prstGeom prst="line">
            <a:avLst/>
          </a:prstGeom>
          <a:noFill/>
          <a:ln w="6350">
            <a:solidFill>
              <a:srgbClr val="DCEC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22960" y="3154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D3C"/>
                </a:solidFill>
              </a:rPr>
              <a:t>Confidence margin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22960" y="36118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2616B"/>
                </a:solidFill>
              </a:rPr>
              <a:t>margin = probability(correct identity) − probability(second‑best identity)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D3C"/>
                </a:solidFill>
              </a:rPr>
              <a:t>Why this is stronger than only cosine similarity: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68680" y="4645152"/>
            <a:ext cx="55778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50" dirty="0">
                <a:solidFill>
                  <a:srgbClr val="101820"/>
                </a:solidFill>
              </a:rPr>
              <a:t>It directly tests the Poly‑SIM classification objective.</a:t>
            </a:r>
            <a:endParaRPr lang="en-US" sz="1350" dirty="0"/>
          </a:p>
          <a:p>
            <a:r>
              <a:rPr lang="en-US" sz="1350" dirty="0">
                <a:solidFill>
                  <a:srgbClr val="101820"/>
                </a:solidFill>
              </a:rPr>
              <a:t>It checks whether the correct identity is clearly separated from the nearest competitor.</a:t>
            </a:r>
            <a:endParaRPr lang="en-US" sz="1350" dirty="0"/>
          </a:p>
          <a:p>
            <a:r>
              <a:rPr lang="en-US" sz="1350" dirty="0">
                <a:solidFill>
                  <a:srgbClr val="101820"/>
                </a:solidFill>
              </a:rPr>
              <a:t>Generated German still has a strong margin: 0.9119.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03720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D3C"/>
                </a:solidFill>
              </a:rPr>
              <a:t>Generated German probability gap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40880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0"/>
                </a:solidFill>
              </a:rPr>
              <a:t>id0001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092440" y="3968496"/>
            <a:ext cx="2697480" cy="228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881360" y="3950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D3C"/>
                </a:solidFill>
              </a:rPr>
              <a:t>0.9541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040880" y="4617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0"/>
                </a:solidFill>
              </a:rPr>
              <a:t>2nd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092440" y="4636008"/>
            <a:ext cx="119310" cy="228600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0881360" y="46177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D3C"/>
                </a:solidFill>
              </a:rPr>
              <a:t>0.0422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03720" y="5577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A9D8F"/>
                </a:solidFill>
              </a:rPr>
              <a:t>Both samples were classified correctly as label 0.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D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 — Synthetic data requirement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616B"/>
                </a:solidFill>
              </a:rPr>
              <a:t>Synthetic generation should focus on identities with the fewest real samples.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0972800" cy="0"/>
          </a:xfrm>
          <a:prstGeom prst="line">
            <a:avLst/>
          </a:prstGeom>
          <a:noFill/>
          <a:ln w="12700">
            <a:solidFill>
              <a:srgbClr val="D7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0"/>
                </a:solidFill>
              </a:rPr>
              <a:t>Assignment 3 | Complete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32104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36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" y="2039112"/>
            <a:ext cx="1591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identities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935224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1495B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53512" y="2039112"/>
            <a:ext cx="1591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minimum real samples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9204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38344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155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56632" y="2039112"/>
            <a:ext cx="1591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maximum real samples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9516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141464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</a:rPr>
              <a:t>50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59752" y="2039112"/>
            <a:ext cx="1591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target per identity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8FCFD"/>
          </a:solidFill>
          <a:ln w="12700">
            <a:solidFill>
              <a:srgbClr val="D3E8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244584" y="157276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99F"/>
                </a:solidFill>
              </a:rPr>
              <a:t>708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62872" y="2039112"/>
            <a:ext cx="1591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</a:rPr>
              <a:t>synthetic samples needed</a:t>
            </a:r>
            <a:endParaRPr lang="en-US" sz="1050" dirty="0"/>
          </a:p>
        </p:txBody>
      </p:sp>
      <p:pic>
        <p:nvPicPr>
          <p:cNvPr id="23" name="Image 0" descr="/mnt/data/task4_plo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6492240" cy="2468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54380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D3C"/>
                </a:solidFill>
              </a:rPr>
              <a:t>Top identities needing new samples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589520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99F"/>
                </a:solidFill>
              </a:rPr>
              <a:t>ID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006840" y="3474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99F"/>
                </a:solidFill>
              </a:rPr>
              <a:t>Real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0058400" y="3474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99F"/>
                </a:solidFill>
              </a:rPr>
              <a:t>Needed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589520" y="3822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id0008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9006840" y="38221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3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10058400" y="38221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47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7589520" y="40599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id0036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9006840" y="4059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3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10058400" y="40599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47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7589520" y="4297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id0053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9006840" y="42976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9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10058400" y="42976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41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7589520" y="45354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id0025</a:t>
            </a:r>
            <a:endParaRPr lang="en-US" sz="1080" dirty="0"/>
          </a:p>
        </p:txBody>
      </p:sp>
      <p:sp>
        <p:nvSpPr>
          <p:cNvPr id="38" name="Text 35"/>
          <p:cNvSpPr/>
          <p:nvPr/>
        </p:nvSpPr>
        <p:spPr>
          <a:xfrm>
            <a:off x="9006840" y="45354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9</a:t>
            </a:r>
            <a:endParaRPr lang="en-US" sz="1080" dirty="0"/>
          </a:p>
        </p:txBody>
      </p:sp>
      <p:sp>
        <p:nvSpPr>
          <p:cNvPr id="39" name="Text 36"/>
          <p:cNvSpPr/>
          <p:nvPr/>
        </p:nvSpPr>
        <p:spPr>
          <a:xfrm>
            <a:off x="10058400" y="45354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41</a:t>
            </a:r>
            <a:endParaRPr lang="en-US" sz="1080" dirty="0"/>
          </a:p>
        </p:txBody>
      </p:sp>
      <p:sp>
        <p:nvSpPr>
          <p:cNvPr id="40" name="Text 37"/>
          <p:cNvSpPr/>
          <p:nvPr/>
        </p:nvSpPr>
        <p:spPr>
          <a:xfrm>
            <a:off x="7589520" y="47731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id0011</a:t>
            </a:r>
            <a:endParaRPr lang="en-US" sz="1080" dirty="0"/>
          </a:p>
        </p:txBody>
      </p:sp>
      <p:sp>
        <p:nvSpPr>
          <p:cNvPr id="41" name="Text 38"/>
          <p:cNvSpPr/>
          <p:nvPr/>
        </p:nvSpPr>
        <p:spPr>
          <a:xfrm>
            <a:off x="900684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9</a:t>
            </a:r>
            <a:endParaRPr lang="en-US" sz="1080" dirty="0"/>
          </a:p>
        </p:txBody>
      </p:sp>
      <p:sp>
        <p:nvSpPr>
          <p:cNvPr id="42" name="Text 39"/>
          <p:cNvSpPr/>
          <p:nvPr/>
        </p:nvSpPr>
        <p:spPr>
          <a:xfrm>
            <a:off x="10058400" y="47731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01820"/>
                </a:solidFill>
              </a:rPr>
              <a:t>41</a:t>
            </a:r>
            <a:endParaRPr lang="en-US" sz="1080" dirty="0"/>
          </a:p>
        </p:txBody>
      </p:sp>
      <p:sp>
        <p:nvSpPr>
          <p:cNvPr id="43" name="Text 40"/>
          <p:cNvSpPr/>
          <p:nvPr/>
        </p:nvSpPr>
        <p:spPr>
          <a:xfrm>
            <a:off x="7543800" y="5349240"/>
            <a:ext cx="3840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32D3C"/>
                </a:solidFill>
              </a:rPr>
              <a:t>Rule used: synthetic_needed = max(0, 50 − current_real_samples)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99F"/>
          </a:solidFill>
          <a:ln w="12700">
            <a:solidFill>
              <a:srgbClr val="0079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D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616B"/>
                </a:solidFill>
              </a:rPr>
              <a:t>The pipeline works end‑to‑end and preserves enough identity information for the baseline.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0972800" cy="0"/>
          </a:xfrm>
          <a:prstGeom prst="line">
            <a:avLst/>
          </a:prstGeom>
          <a:noFill/>
          <a:ln w="12700">
            <a:solidFill>
              <a:srgbClr val="D7E5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0"/>
                </a:solidFill>
              </a:rPr>
              <a:t>Assignment 3 | Complete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519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0"/>
                </a:solidFill>
              </a:rPr>
              <a:t>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EFF8FB"/>
          </a:solidFill>
          <a:ln w="12700">
            <a:solidFill>
              <a:srgbClr val="BFDD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D3C"/>
                </a:solidFill>
              </a:rPr>
              <a:t>Pipeline completed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2514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0"/>
                </a:solidFill>
              </a:rPr>
              <a:t>English video was transcribed, translated, voice‑cloned, duration‑matched, and lip‑synchronized into German.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0FAF5"/>
          </a:solidFill>
          <a:ln w="12700">
            <a:solidFill>
              <a:srgbClr val="BFE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D3C"/>
                </a:solidFill>
              </a:rPr>
              <a:t>Identity preserved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2514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0"/>
                </a:solidFill>
              </a:rPr>
              <a:t>Generated German sample was correctly classified as id0001 with confidence 0.9541 and margin 0.9119.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1600200"/>
            <a:ext cx="3063240" cy="2926080"/>
          </a:xfrm>
          <a:prstGeom prst="roundRect">
            <a:avLst>
              <a:gd name="adj" fmla="val 2500"/>
            </a:avLst>
          </a:prstGeom>
          <a:solidFill>
            <a:srgbClr val="FFF8E8"/>
          </a:solidFill>
          <a:ln w="12700">
            <a:solidFill>
              <a:srgbClr val="F1DD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00100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D3C"/>
                </a:solidFill>
              </a:rPr>
              <a:t>Data balancing plan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46720" y="2651760"/>
            <a:ext cx="2514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1820"/>
                </a:solidFill>
              </a:rPr>
              <a:t>A target of 50 samples per identity requires 708 synthetic samples, focused on low‑resource identities.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D3C"/>
                </a:solidFill>
              </a:rPr>
              <a:t>Submission files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" y="5504687"/>
            <a:ext cx="10607040" cy="5943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2616B"/>
                </a:solidFill>
              </a:rPr>
              <a:t>Report PDF • cleaned notebook • outputs/video_lipsync/sample_lipsync_full_de.mp4 • embedding/result CSVs • repo README</a:t>
            </a:r>
          </a:p>
          <a:p>
            <a:pPr algn="ctr"/>
            <a:r>
              <a:rPr lang="en-GB" dirty="0">
                <a:hlinkClick r:id="rId3"/>
              </a:rPr>
              <a:t>https://github.com/Abdulaziz123123123/Special_topics_2026.git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1085</Words>
  <Application>Microsoft Office PowerPoint</Application>
  <PresentationFormat>Widescreen</PresentationFormat>
  <Paragraphs>219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Johannes Kepler University Linz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 Complete Spoken-Video Translation Pipeline</dc:title>
  <dc:subject>Assignment 3 spoken-video translation pipeline</dc:subject>
  <dc:creator>Mohamed Kitaz &amp; Abdulaziz Kitaz</dc:creator>
  <cp:lastModifiedBy>Kitaz Abdulaziz</cp:lastModifiedBy>
  <cp:revision>2</cp:revision>
  <dcterms:created xsi:type="dcterms:W3CDTF">2026-05-16T13:59:52Z</dcterms:created>
  <dcterms:modified xsi:type="dcterms:W3CDTF">2026-05-16T15:59:17Z</dcterms:modified>
</cp:coreProperties>
</file>